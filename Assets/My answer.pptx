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0F47D9-5ABE-47F6-A006-139A6BDFC730}" v="609" dt="2025-10-14T11:02:22.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4" d="100"/>
          <a:sy n="64" d="100"/>
        </p:scale>
        <p:origin x="52" y="5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2EA65FBFFC20FBB8/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EA65FBFFC20FBB8/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2EA65FBFFC20FBB8/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[Campaign_Data_Week1.xlsx]Total sales by new customers!PivotTable1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sales ($) by new customers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'Total sales by new customers'!$C$3</c:f>
              <c:strCache>
                <c:ptCount val="1"/>
                <c:pt idx="0">
                  <c:v>Total</c:v>
                </c:pt>
              </c:strCache>
            </c:strRef>
          </c:tx>
          <c:spPr>
            <a:solidFill>
              <a:srgbClr val="637CEF"/>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'Total sales by new customers'!$A$4:$B$12</c:f>
              <c:multiLvlStrCache>
                <c:ptCount val="6"/>
                <c:lvl>
                  <c:pt idx="0">
                    <c:v>Email</c:v>
                  </c:pt>
                  <c:pt idx="1">
                    <c:v>Instagram</c:v>
                  </c:pt>
                  <c:pt idx="2">
                    <c:v>Web Banner</c:v>
                  </c:pt>
                  <c:pt idx="3">
                    <c:v>Email</c:v>
                  </c:pt>
                  <c:pt idx="4">
                    <c:v>Instagram</c:v>
                  </c:pt>
                  <c:pt idx="5">
                    <c:v>Web Banner</c:v>
                  </c:pt>
                </c:lvl>
                <c:lvl>
                  <c:pt idx="0">
                    <c:v>A</c:v>
                  </c:pt>
                  <c:pt idx="3">
                    <c:v>B</c:v>
                  </c:pt>
                </c:lvl>
              </c:multiLvlStrCache>
            </c:multiLvlStrRef>
          </c:cat>
          <c:val>
            <c:numRef>
              <c:f>'Total sales by new customers'!$C$4:$C$12</c:f>
              <c:numCache>
                <c:formatCode>General</c:formatCode>
                <c:ptCount val="6"/>
                <c:pt idx="0">
                  <c:v>2124.4700000000003</c:v>
                </c:pt>
                <c:pt idx="1">
                  <c:v>969.46</c:v>
                </c:pt>
                <c:pt idx="2">
                  <c:v>633.06000000000006</c:v>
                </c:pt>
                <c:pt idx="3">
                  <c:v>1382.3799999999999</c:v>
                </c:pt>
                <c:pt idx="4">
                  <c:v>416.14</c:v>
                </c:pt>
                <c:pt idx="5">
                  <c:v>318.92000000000007</c:v>
                </c:pt>
              </c:numCache>
            </c:numRef>
          </c:val>
          <c:extLst>
            <c:ext xmlns:c16="http://schemas.microsoft.com/office/drawing/2014/chart" uri="{C3380CC4-5D6E-409C-BE32-E72D297353CC}">
              <c16:uniqueId val="{00000000-62E9-41C9-AB02-0952ADECE0AE}"/>
            </c:ext>
          </c:extLst>
        </c:ser>
        <c:dLbls>
          <c:dLblPos val="inEnd"/>
          <c:showLegendKey val="0"/>
          <c:showVal val="1"/>
          <c:showCatName val="0"/>
          <c:showSerName val="0"/>
          <c:showPercent val="0"/>
          <c:showBubbleSize val="0"/>
        </c:dLbls>
        <c:gapWidth val="150"/>
        <c:overlap val="100"/>
        <c:axId val="1024553480"/>
        <c:axId val="1025355272"/>
      </c:barChart>
      <c:valAx>
        <c:axId val="10253552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 sales ($)</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4553480"/>
        <c:crosses val="autoZero"/>
        <c:crossBetween val="between"/>
      </c:valAx>
      <c:catAx>
        <c:axId val="102455348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Campaign type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35527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[Campaign_Data_Week1.xlsx]no. of conversns v interactions!PivotTable1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Number of conversions vs number of interactions</a:t>
            </a:r>
          </a:p>
        </c:rich>
      </c:tx>
      <c:layout>
        <c:manualLayout>
          <c:xMode val="edge"/>
          <c:yMode val="edge"/>
          <c:x val="0.40491230589686539"/>
          <c:y val="2.352940486027644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FF00"/>
          </a:solidFill>
          <a:ln>
            <a:solidFill>
              <a:srgbClr val="0070BF"/>
            </a:solidFill>
            <a:prstDash val="soli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637CEF"/>
          </a:solidFill>
          <a:ln>
            <a:noFill/>
          </a:ln>
          <a:effectLst/>
        </c:spPr>
        <c:marker>
          <c:symbol val="none"/>
        </c:marker>
      </c:pivotFmt>
      <c:pivotFmt>
        <c:idx val="8"/>
        <c:spPr>
          <a:solidFill>
            <a:srgbClr val="637CEF"/>
          </a:solidFill>
          <a:ln>
            <a:noFill/>
          </a:ln>
          <a:effectLst/>
        </c:spPr>
        <c:marker>
          <c:symbol val="none"/>
        </c:marker>
      </c:pivotFmt>
      <c:pivotFmt>
        <c:idx val="9"/>
        <c:spPr>
          <a:solidFill>
            <a:srgbClr val="FFFF00"/>
          </a:solidFill>
          <a:ln>
            <a:noFill/>
          </a:ln>
          <a:effectLst/>
        </c:spPr>
      </c:pivotFmt>
      <c:pivotFmt>
        <c:idx val="10"/>
        <c:spPr>
          <a:solidFill>
            <a:srgbClr val="C00000"/>
          </a:solidFill>
          <a:ln>
            <a:noFill/>
          </a:ln>
          <a:effectLst/>
        </c:spPr>
      </c:pivotFmt>
      <c:pivotFmt>
        <c:idx val="11"/>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FFFF00"/>
          </a:solidFill>
          <a:ln>
            <a:solidFill>
              <a:srgbClr val="0070BF"/>
            </a:solidFill>
            <a:prstDash val="soli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00B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C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FFFF00"/>
          </a:solidFill>
          <a:ln>
            <a:solidFill>
              <a:srgbClr val="0070BF"/>
            </a:solidFill>
            <a:prstDash val="soli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'no. of conversns v interactions'!$B$3:$B$5</c:f>
              <c:strCache>
                <c:ptCount val="1"/>
                <c:pt idx="0">
                  <c:v>Email - Count of Interaction ID</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'no. of conversns v interactions'!$A$6:$A$8</c:f>
              <c:strCache>
                <c:ptCount val="2"/>
                <c:pt idx="0">
                  <c:v>A</c:v>
                </c:pt>
                <c:pt idx="1">
                  <c:v>B</c:v>
                </c:pt>
              </c:strCache>
            </c:strRef>
          </c:cat>
          <c:val>
            <c:numRef>
              <c:f>'no. of conversns v interactions'!$B$6:$B$8</c:f>
              <c:numCache>
                <c:formatCode>General</c:formatCode>
                <c:ptCount val="2"/>
                <c:pt idx="0">
                  <c:v>47</c:v>
                </c:pt>
                <c:pt idx="1">
                  <c:v>31</c:v>
                </c:pt>
              </c:numCache>
            </c:numRef>
          </c:val>
          <c:extLst>
            <c:ext xmlns:c16="http://schemas.microsoft.com/office/drawing/2014/chart" uri="{C3380CC4-5D6E-409C-BE32-E72D297353CC}">
              <c16:uniqueId val="{00000000-6FEA-4B41-B60B-996CCB2DFE8A}"/>
            </c:ext>
          </c:extLst>
        </c:ser>
        <c:ser>
          <c:idx val="1"/>
          <c:order val="1"/>
          <c:tx>
            <c:strRef>
              <c:f>'no. of conversns v interactions'!$C$3:$C$5</c:f>
              <c:strCache>
                <c:ptCount val="1"/>
                <c:pt idx="0">
                  <c:v>Email - Conversions</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'no. of conversns v interactions'!$A$6:$A$8</c:f>
              <c:strCache>
                <c:ptCount val="2"/>
                <c:pt idx="0">
                  <c:v>A</c:v>
                </c:pt>
                <c:pt idx="1">
                  <c:v>B</c:v>
                </c:pt>
              </c:strCache>
            </c:strRef>
          </c:cat>
          <c:val>
            <c:numRef>
              <c:f>'no. of conversns v interactions'!$C$6:$C$8</c:f>
              <c:numCache>
                <c:formatCode>General</c:formatCode>
                <c:ptCount val="2"/>
                <c:pt idx="0">
                  <c:v>29</c:v>
                </c:pt>
                <c:pt idx="1">
                  <c:v>20</c:v>
                </c:pt>
              </c:numCache>
            </c:numRef>
          </c:val>
          <c:extLst>
            <c:ext xmlns:c16="http://schemas.microsoft.com/office/drawing/2014/chart" uri="{C3380CC4-5D6E-409C-BE32-E72D297353CC}">
              <c16:uniqueId val="{00000001-6FEA-4B41-B60B-996CCB2DFE8A}"/>
            </c:ext>
          </c:extLst>
        </c:ser>
        <c:ser>
          <c:idx val="2"/>
          <c:order val="2"/>
          <c:tx>
            <c:strRef>
              <c:f>'no. of conversns v interactions'!$D$3:$D$5</c:f>
              <c:strCache>
                <c:ptCount val="1"/>
                <c:pt idx="0">
                  <c:v>Instagram - Count of Interaction ID</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'no. of conversns v interactions'!$A$6:$A$8</c:f>
              <c:strCache>
                <c:ptCount val="2"/>
                <c:pt idx="0">
                  <c:v>A</c:v>
                </c:pt>
                <c:pt idx="1">
                  <c:v>B</c:v>
                </c:pt>
              </c:strCache>
            </c:strRef>
          </c:cat>
          <c:val>
            <c:numRef>
              <c:f>'no. of conversns v interactions'!$D$6:$D$8</c:f>
              <c:numCache>
                <c:formatCode>General</c:formatCode>
                <c:ptCount val="2"/>
                <c:pt idx="0">
                  <c:v>48</c:v>
                </c:pt>
                <c:pt idx="1">
                  <c:v>20</c:v>
                </c:pt>
              </c:numCache>
            </c:numRef>
          </c:val>
          <c:extLst>
            <c:ext xmlns:c16="http://schemas.microsoft.com/office/drawing/2014/chart" uri="{C3380CC4-5D6E-409C-BE32-E72D297353CC}">
              <c16:uniqueId val="{00000002-6FEA-4B41-B60B-996CCB2DFE8A}"/>
            </c:ext>
          </c:extLst>
        </c:ser>
        <c:ser>
          <c:idx val="3"/>
          <c:order val="3"/>
          <c:tx>
            <c:strRef>
              <c:f>'no. of conversns v interactions'!$E$3:$E$5</c:f>
              <c:strCache>
                <c:ptCount val="1"/>
                <c:pt idx="0">
                  <c:v>Instagram - Conversions</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'no. of conversns v interactions'!$A$6:$A$8</c:f>
              <c:strCache>
                <c:ptCount val="2"/>
                <c:pt idx="0">
                  <c:v>A</c:v>
                </c:pt>
                <c:pt idx="1">
                  <c:v>B</c:v>
                </c:pt>
              </c:strCache>
            </c:strRef>
          </c:cat>
          <c:val>
            <c:numRef>
              <c:f>'no. of conversns v interactions'!$E$6:$E$8</c:f>
              <c:numCache>
                <c:formatCode>General</c:formatCode>
                <c:ptCount val="2"/>
                <c:pt idx="0">
                  <c:v>16</c:v>
                </c:pt>
                <c:pt idx="1">
                  <c:v>7</c:v>
                </c:pt>
              </c:numCache>
            </c:numRef>
          </c:val>
          <c:extLst>
            <c:ext xmlns:c16="http://schemas.microsoft.com/office/drawing/2014/chart" uri="{C3380CC4-5D6E-409C-BE32-E72D297353CC}">
              <c16:uniqueId val="{00000003-6FEA-4B41-B60B-996CCB2DFE8A}"/>
            </c:ext>
          </c:extLst>
        </c:ser>
        <c:ser>
          <c:idx val="4"/>
          <c:order val="4"/>
          <c:tx>
            <c:strRef>
              <c:f>'no. of conversns v interactions'!$F$3:$F$5</c:f>
              <c:strCache>
                <c:ptCount val="1"/>
                <c:pt idx="0">
                  <c:v>Web Banner - Count of Interaction ID</c:v>
                </c:pt>
              </c:strCache>
            </c:strRef>
          </c:tx>
          <c:spPr>
            <a:solidFill>
              <a:srgbClr val="FFFF00"/>
            </a:solidFill>
            <a:ln>
              <a:solidFill>
                <a:srgbClr val="0070BF"/>
              </a:solidFill>
              <a:prstDash val="soli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'no. of conversns v interactions'!$A$6:$A$8</c:f>
              <c:strCache>
                <c:ptCount val="2"/>
                <c:pt idx="0">
                  <c:v>A</c:v>
                </c:pt>
                <c:pt idx="1">
                  <c:v>B</c:v>
                </c:pt>
              </c:strCache>
            </c:strRef>
          </c:cat>
          <c:val>
            <c:numRef>
              <c:f>'no. of conversns v interactions'!$F$6:$F$8</c:f>
              <c:numCache>
                <c:formatCode>General</c:formatCode>
                <c:ptCount val="2"/>
                <c:pt idx="0">
                  <c:v>43</c:v>
                </c:pt>
                <c:pt idx="1">
                  <c:v>24</c:v>
                </c:pt>
              </c:numCache>
            </c:numRef>
          </c:val>
          <c:extLst>
            <c:ext xmlns:c16="http://schemas.microsoft.com/office/drawing/2014/chart" uri="{C3380CC4-5D6E-409C-BE32-E72D297353CC}">
              <c16:uniqueId val="{00000004-6FEA-4B41-B60B-996CCB2DFE8A}"/>
            </c:ext>
          </c:extLst>
        </c:ser>
        <c:ser>
          <c:idx val="5"/>
          <c:order val="5"/>
          <c:tx>
            <c:strRef>
              <c:f>'no. of conversns v interactions'!$G$3:$G$5</c:f>
              <c:strCache>
                <c:ptCount val="1"/>
                <c:pt idx="0">
                  <c:v>Web Banner - Conversions</c:v>
                </c:pt>
              </c:strCache>
            </c:strRef>
          </c:tx>
          <c:spPr>
            <a:solidFill>
              <a:srgbClr val="FFFF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'no. of conversns v interactions'!$A$6:$A$8</c:f>
              <c:strCache>
                <c:ptCount val="2"/>
                <c:pt idx="0">
                  <c:v>A</c:v>
                </c:pt>
                <c:pt idx="1">
                  <c:v>B</c:v>
                </c:pt>
              </c:strCache>
            </c:strRef>
          </c:cat>
          <c:val>
            <c:numRef>
              <c:f>'no. of conversns v interactions'!$G$6:$G$8</c:f>
              <c:numCache>
                <c:formatCode>General</c:formatCode>
                <c:ptCount val="2"/>
                <c:pt idx="0">
                  <c:v>14</c:v>
                </c:pt>
                <c:pt idx="1">
                  <c:v>7</c:v>
                </c:pt>
              </c:numCache>
            </c:numRef>
          </c:val>
          <c:extLst>
            <c:ext xmlns:c16="http://schemas.microsoft.com/office/drawing/2014/chart" uri="{C3380CC4-5D6E-409C-BE32-E72D297353CC}">
              <c16:uniqueId val="{00000005-6FEA-4B41-B60B-996CCB2DFE8A}"/>
            </c:ext>
          </c:extLst>
        </c:ser>
        <c:dLbls>
          <c:dLblPos val="inEnd"/>
          <c:showLegendKey val="0"/>
          <c:showVal val="1"/>
          <c:showCatName val="0"/>
          <c:showSerName val="0"/>
          <c:showPercent val="0"/>
          <c:showBubbleSize val="0"/>
        </c:dLbls>
        <c:gapWidth val="182"/>
        <c:axId val="809139719"/>
        <c:axId val="809158151"/>
      </c:barChart>
      <c:catAx>
        <c:axId val="80913971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Campaign type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9158151"/>
        <c:crosses val="autoZero"/>
        <c:auto val="1"/>
        <c:lblAlgn val="ctr"/>
        <c:lblOffset val="100"/>
        <c:noMultiLvlLbl val="0"/>
      </c:catAx>
      <c:valAx>
        <c:axId val="80915815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interactions and conversions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91397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[Campaign_Data_Week1.xlsx]avg sales done by converted use!PivotTable2</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sales done by converted users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rgbClr val="637CEF"/>
          </a:solidFill>
          <a:ln w="28575" cap="rnd">
            <a:solidFill>
              <a:srgbClr val="637CEF"/>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'avg sales done by converted use'!$B$3:$B$5</c:f>
              <c:strCache>
                <c:ptCount val="1"/>
                <c:pt idx="0">
                  <c:v>Conversions in percent - Email</c:v>
                </c:pt>
              </c:strCache>
            </c:strRef>
          </c:tx>
          <c:spPr>
            <a:solidFill>
              <a:srgbClr val="637CEF"/>
            </a:solidFill>
            <a:ln>
              <a:noFill/>
            </a:ln>
            <a:effectLst/>
          </c:spPr>
          <c:invertIfNegative val="0"/>
          <c:cat>
            <c:strRef>
              <c:f>'avg sales done by converted use'!$A$6:$A$8</c:f>
              <c:strCache>
                <c:ptCount val="2"/>
                <c:pt idx="0">
                  <c:v>A</c:v>
                </c:pt>
                <c:pt idx="1">
                  <c:v>B</c:v>
                </c:pt>
              </c:strCache>
            </c:strRef>
          </c:cat>
          <c:val>
            <c:numRef>
              <c:f>'avg sales done by converted use'!$B$6:$B$8</c:f>
              <c:numCache>
                <c:formatCode>0.00%</c:formatCode>
                <c:ptCount val="2"/>
                <c:pt idx="0">
                  <c:v>0.59183673469387754</c:v>
                </c:pt>
                <c:pt idx="1">
                  <c:v>0.40816326530612246</c:v>
                </c:pt>
              </c:numCache>
            </c:numRef>
          </c:val>
          <c:extLst>
            <c:ext xmlns:c16="http://schemas.microsoft.com/office/drawing/2014/chart" uri="{C3380CC4-5D6E-409C-BE32-E72D297353CC}">
              <c16:uniqueId val="{00000000-675C-4365-925B-9F44E95CA3C9}"/>
            </c:ext>
          </c:extLst>
        </c:ser>
        <c:ser>
          <c:idx val="1"/>
          <c:order val="1"/>
          <c:tx>
            <c:strRef>
              <c:f>'avg sales done by converted use'!$C$3:$C$5</c:f>
              <c:strCache>
                <c:ptCount val="1"/>
                <c:pt idx="0">
                  <c:v>Conversions in percent - Instagram</c:v>
                </c:pt>
              </c:strCache>
            </c:strRef>
          </c:tx>
          <c:spPr>
            <a:solidFill>
              <a:srgbClr val="E3008C"/>
            </a:solidFill>
            <a:ln>
              <a:noFill/>
            </a:ln>
            <a:effectLst/>
          </c:spPr>
          <c:invertIfNegative val="0"/>
          <c:cat>
            <c:strRef>
              <c:f>'avg sales done by converted use'!$A$6:$A$8</c:f>
              <c:strCache>
                <c:ptCount val="2"/>
                <c:pt idx="0">
                  <c:v>A</c:v>
                </c:pt>
                <c:pt idx="1">
                  <c:v>B</c:v>
                </c:pt>
              </c:strCache>
            </c:strRef>
          </c:cat>
          <c:val>
            <c:numRef>
              <c:f>'avg sales done by converted use'!$C$6:$C$8</c:f>
              <c:numCache>
                <c:formatCode>0.00%</c:formatCode>
                <c:ptCount val="2"/>
                <c:pt idx="0">
                  <c:v>0.69565217391304346</c:v>
                </c:pt>
                <c:pt idx="1">
                  <c:v>0.30434782608695654</c:v>
                </c:pt>
              </c:numCache>
            </c:numRef>
          </c:val>
          <c:extLst>
            <c:ext xmlns:c16="http://schemas.microsoft.com/office/drawing/2014/chart" uri="{C3380CC4-5D6E-409C-BE32-E72D297353CC}">
              <c16:uniqueId val="{00000001-675C-4365-925B-9F44E95CA3C9}"/>
            </c:ext>
          </c:extLst>
        </c:ser>
        <c:ser>
          <c:idx val="2"/>
          <c:order val="2"/>
          <c:tx>
            <c:strRef>
              <c:f>'avg sales done by converted use'!$D$3:$D$5</c:f>
              <c:strCache>
                <c:ptCount val="1"/>
                <c:pt idx="0">
                  <c:v>Conversions in percent - Web Banner</c:v>
                </c:pt>
              </c:strCache>
            </c:strRef>
          </c:tx>
          <c:spPr>
            <a:solidFill>
              <a:srgbClr val="2AA0A4"/>
            </a:solidFill>
            <a:ln>
              <a:noFill/>
            </a:ln>
            <a:effectLst/>
          </c:spPr>
          <c:invertIfNegative val="0"/>
          <c:cat>
            <c:strRef>
              <c:f>'avg sales done by converted use'!$A$6:$A$8</c:f>
              <c:strCache>
                <c:ptCount val="2"/>
                <c:pt idx="0">
                  <c:v>A</c:v>
                </c:pt>
                <c:pt idx="1">
                  <c:v>B</c:v>
                </c:pt>
              </c:strCache>
            </c:strRef>
          </c:cat>
          <c:val>
            <c:numRef>
              <c:f>'avg sales done by converted use'!$D$6:$D$8</c:f>
              <c:numCache>
                <c:formatCode>0.00%</c:formatCode>
                <c:ptCount val="2"/>
                <c:pt idx="0">
                  <c:v>0.66666666666666663</c:v>
                </c:pt>
                <c:pt idx="1">
                  <c:v>0.33333333333333331</c:v>
                </c:pt>
              </c:numCache>
            </c:numRef>
          </c:val>
          <c:extLst>
            <c:ext xmlns:c16="http://schemas.microsoft.com/office/drawing/2014/chart" uri="{C3380CC4-5D6E-409C-BE32-E72D297353CC}">
              <c16:uniqueId val="{00000002-675C-4365-925B-9F44E95CA3C9}"/>
            </c:ext>
          </c:extLst>
        </c:ser>
        <c:dLbls>
          <c:showLegendKey val="0"/>
          <c:showVal val="0"/>
          <c:showCatName val="0"/>
          <c:showSerName val="0"/>
          <c:showPercent val="0"/>
          <c:showBubbleSize val="0"/>
        </c:dLbls>
        <c:gapWidth val="150"/>
        <c:axId val="1952211463"/>
        <c:axId val="1952224263"/>
      </c:barChart>
      <c:lineChart>
        <c:grouping val="standard"/>
        <c:varyColors val="0"/>
        <c:ser>
          <c:idx val="3"/>
          <c:order val="3"/>
          <c:tx>
            <c:strRef>
              <c:f>'avg sales done by converted use'!$E$3:$E$5</c:f>
              <c:strCache>
                <c:ptCount val="1"/>
                <c:pt idx="0">
                  <c:v>Average of Sales ($) - Email</c:v>
                </c:pt>
              </c:strCache>
            </c:strRef>
          </c:tx>
          <c:spPr>
            <a:ln w="28575" cap="rnd">
              <a:solidFill>
                <a:srgbClr val="9373C0"/>
              </a:solidFill>
              <a:round/>
            </a:ln>
            <a:effectLst/>
          </c:spPr>
          <c:marker>
            <c:symbol val="none"/>
          </c:marker>
          <c:cat>
            <c:strRef>
              <c:f>'avg sales done by converted use'!$A$6:$A$8</c:f>
              <c:strCache>
                <c:ptCount val="2"/>
                <c:pt idx="0">
                  <c:v>A</c:v>
                </c:pt>
                <c:pt idx="1">
                  <c:v>B</c:v>
                </c:pt>
              </c:strCache>
            </c:strRef>
          </c:cat>
          <c:val>
            <c:numRef>
              <c:f>'avg sales done by converted use'!$E$6:$E$8</c:f>
              <c:numCache>
                <c:formatCode>General</c:formatCode>
                <c:ptCount val="2"/>
                <c:pt idx="0">
                  <c:v>45.20148936170213</c:v>
                </c:pt>
                <c:pt idx="1">
                  <c:v>44.592903225806445</c:v>
                </c:pt>
              </c:numCache>
            </c:numRef>
          </c:val>
          <c:smooth val="0"/>
          <c:extLst>
            <c:ext xmlns:c16="http://schemas.microsoft.com/office/drawing/2014/chart" uri="{C3380CC4-5D6E-409C-BE32-E72D297353CC}">
              <c16:uniqueId val="{00000003-675C-4365-925B-9F44E95CA3C9}"/>
            </c:ext>
          </c:extLst>
        </c:ser>
        <c:ser>
          <c:idx val="4"/>
          <c:order val="4"/>
          <c:tx>
            <c:strRef>
              <c:f>'avg sales done by converted use'!$F$3:$F$5</c:f>
              <c:strCache>
                <c:ptCount val="1"/>
                <c:pt idx="0">
                  <c:v>Average of Sales ($) - Instagram</c:v>
                </c:pt>
              </c:strCache>
            </c:strRef>
          </c:tx>
          <c:spPr>
            <a:ln w="28575" cap="rnd">
              <a:solidFill>
                <a:srgbClr val="13A10E"/>
              </a:solidFill>
              <a:round/>
            </a:ln>
            <a:effectLst/>
          </c:spPr>
          <c:marker>
            <c:symbol val="none"/>
          </c:marker>
          <c:cat>
            <c:strRef>
              <c:f>'avg sales done by converted use'!$A$6:$A$8</c:f>
              <c:strCache>
                <c:ptCount val="2"/>
                <c:pt idx="0">
                  <c:v>A</c:v>
                </c:pt>
                <c:pt idx="1">
                  <c:v>B</c:v>
                </c:pt>
              </c:strCache>
            </c:strRef>
          </c:cat>
          <c:val>
            <c:numRef>
              <c:f>'avg sales done by converted use'!$F$6:$F$8</c:f>
              <c:numCache>
                <c:formatCode>General</c:formatCode>
                <c:ptCount val="2"/>
                <c:pt idx="0">
                  <c:v>20.197083333333335</c:v>
                </c:pt>
                <c:pt idx="1">
                  <c:v>20.806999999999999</c:v>
                </c:pt>
              </c:numCache>
            </c:numRef>
          </c:val>
          <c:smooth val="0"/>
          <c:extLst>
            <c:ext xmlns:c16="http://schemas.microsoft.com/office/drawing/2014/chart" uri="{C3380CC4-5D6E-409C-BE32-E72D297353CC}">
              <c16:uniqueId val="{00000004-675C-4365-925B-9F44E95CA3C9}"/>
            </c:ext>
          </c:extLst>
        </c:ser>
        <c:ser>
          <c:idx val="5"/>
          <c:order val="5"/>
          <c:tx>
            <c:strRef>
              <c:f>'avg sales done by converted use'!$G$3:$G$5</c:f>
              <c:strCache>
                <c:ptCount val="1"/>
                <c:pt idx="0">
                  <c:v>Average of Sales ($) - Web Banner</c:v>
                </c:pt>
              </c:strCache>
            </c:strRef>
          </c:tx>
          <c:spPr>
            <a:ln w="28575" cap="rnd">
              <a:solidFill>
                <a:srgbClr val="3A96DD"/>
              </a:solidFill>
              <a:round/>
            </a:ln>
            <a:effectLst/>
          </c:spPr>
          <c:marker>
            <c:symbol val="none"/>
          </c:marker>
          <c:cat>
            <c:strRef>
              <c:f>'avg sales done by converted use'!$A$6:$A$8</c:f>
              <c:strCache>
                <c:ptCount val="2"/>
                <c:pt idx="0">
                  <c:v>A</c:v>
                </c:pt>
                <c:pt idx="1">
                  <c:v>B</c:v>
                </c:pt>
              </c:strCache>
            </c:strRef>
          </c:cat>
          <c:val>
            <c:numRef>
              <c:f>'avg sales done by converted use'!$G$6:$G$8</c:f>
              <c:numCache>
                <c:formatCode>General</c:formatCode>
                <c:ptCount val="2"/>
                <c:pt idx="0">
                  <c:v>14.722325581395351</c:v>
                </c:pt>
                <c:pt idx="1">
                  <c:v>13.288333333333336</c:v>
                </c:pt>
              </c:numCache>
            </c:numRef>
          </c:val>
          <c:smooth val="0"/>
          <c:extLst>
            <c:ext xmlns:c16="http://schemas.microsoft.com/office/drawing/2014/chart" uri="{C3380CC4-5D6E-409C-BE32-E72D297353CC}">
              <c16:uniqueId val="{00000005-675C-4365-925B-9F44E95CA3C9}"/>
            </c:ext>
          </c:extLst>
        </c:ser>
        <c:dLbls>
          <c:showLegendKey val="0"/>
          <c:showVal val="0"/>
          <c:showCatName val="0"/>
          <c:showSerName val="0"/>
          <c:showPercent val="0"/>
          <c:showBubbleSize val="0"/>
        </c:dLbls>
        <c:marker val="1"/>
        <c:smooth val="0"/>
        <c:axId val="1342012936"/>
        <c:axId val="1342009864"/>
      </c:lineChart>
      <c:catAx>
        <c:axId val="1952211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52224263"/>
        <c:crosses val="autoZero"/>
        <c:auto val="1"/>
        <c:lblAlgn val="ctr"/>
        <c:lblOffset val="100"/>
        <c:noMultiLvlLbl val="0"/>
      </c:catAx>
      <c:valAx>
        <c:axId val="195222426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52211463"/>
        <c:crosses val="autoZero"/>
        <c:crossBetween val="between"/>
      </c:valAx>
      <c:valAx>
        <c:axId val="1342009864"/>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2012936"/>
        <c:crosses val="max"/>
        <c:crossBetween val="between"/>
      </c:valAx>
      <c:catAx>
        <c:axId val="1342012936"/>
        <c:scaling>
          <c:orientation val="minMax"/>
        </c:scaling>
        <c:delete val="1"/>
        <c:axPos val="b"/>
        <c:numFmt formatCode="General" sourceLinked="1"/>
        <c:majorTickMark val="out"/>
        <c:minorTickMark val="none"/>
        <c:tickLblPos val="nextTo"/>
        <c:crossAx val="134200986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3.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10/14/2025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10/14/2025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77E036F-AF50-32A5-AA87-4A97F3F6A88D}"/>
              </a:ext>
            </a:extLst>
          </p:cNvPr>
          <p:cNvSpPr/>
          <p:nvPr/>
        </p:nvSpPr>
        <p:spPr>
          <a:xfrm>
            <a:off x="631374" y="5371165"/>
            <a:ext cx="10943497" cy="129769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 From the charts built, it is obvious for </a:t>
            </a:r>
            <a:r>
              <a:rPr lang="en-US" sz="1600" b="1" dirty="0" err="1">
                <a:solidFill>
                  <a:srgbClr val="000000"/>
                </a:solidFill>
              </a:rPr>
              <a:t>NewCo</a:t>
            </a:r>
            <a:r>
              <a:rPr lang="en-US" sz="1600" b="1" dirty="0">
                <a:solidFill>
                  <a:srgbClr val="000000"/>
                </a:solidFill>
              </a:rPr>
              <a:t> to double down on combinations of Campaign A and Email for new customers growth as it has highest amount of sales, which is 2124.47 $ out of all combinations. Moreover, Email channel has second highest </a:t>
            </a:r>
            <a:r>
              <a:rPr lang="en-US" sz="1600" b="1" dirty="0" err="1">
                <a:solidFill>
                  <a:srgbClr val="000000"/>
                </a:solidFill>
              </a:rPr>
              <a:t>intercation</a:t>
            </a:r>
            <a:r>
              <a:rPr lang="en-US" sz="1600" b="1" dirty="0">
                <a:solidFill>
                  <a:srgbClr val="000000"/>
                </a:solidFill>
              </a:rPr>
              <a:t> but highest conversion number out of all types, that is 29 out of 47. Apart from that, it also has highest average sales made which is 45.2 $ from Campaign A.</a:t>
            </a:r>
          </a:p>
        </p:txBody>
      </p:sp>
      <p:sp>
        <p:nvSpPr>
          <p:cNvPr id="8" name="Rectangle 7">
            <a:extLst>
              <a:ext uri="{FF2B5EF4-FFF2-40B4-BE49-F238E27FC236}">
                <a16:creationId xmlns:a16="http://schemas.microsoft.com/office/drawing/2014/main" id="{942B0D30-68D6-1748-728E-7FA73A5976EC}"/>
              </a:ext>
            </a:extLst>
          </p:cNvPr>
          <p:cNvSpPr/>
          <p:nvPr/>
        </p:nvSpPr>
        <p:spPr>
          <a:xfrm>
            <a:off x="838228" y="1706906"/>
            <a:ext cx="2421489"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[Total sales by new customers]</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657326" y="2163569"/>
            <a:ext cx="2868389"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8660314"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862853" y="730961"/>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No. Of conversions vs no. of interactions</a:t>
            </a:r>
          </a:p>
        </p:txBody>
      </p:sp>
      <p:sp>
        <p:nvSpPr>
          <p:cNvPr id="54" name="Rectangle 53">
            <a:extLst>
              <a:ext uri="{FF2B5EF4-FFF2-40B4-BE49-F238E27FC236}">
                <a16:creationId xmlns:a16="http://schemas.microsoft.com/office/drawing/2014/main" id="{AC2F7AF7-DC76-6C1A-0458-2264EDF24BF9}"/>
              </a:ext>
            </a:extLst>
          </p:cNvPr>
          <p:cNvSpPr/>
          <p:nvPr/>
        </p:nvSpPr>
        <p:spPr>
          <a:xfrm>
            <a:off x="8879242" y="624063"/>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Avg sales in ($) done by converted users</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7" name="Chart 6">
            <a:extLst>
              <a:ext uri="{FF2B5EF4-FFF2-40B4-BE49-F238E27FC236}">
                <a16:creationId xmlns:a16="http://schemas.microsoft.com/office/drawing/2014/main" id="{862E5FC4-10D9-B4BB-974F-9DED1CD05714}"/>
              </a:ext>
            </a:extLst>
          </p:cNvPr>
          <p:cNvGraphicFramePr>
            <a:graphicFrameLocks/>
          </p:cNvGraphicFramePr>
          <p:nvPr>
            <p:extLst>
              <p:ext uri="{D42A27DB-BD31-4B8C-83A1-F6EECF244321}">
                <p14:modId xmlns:p14="http://schemas.microsoft.com/office/powerpoint/2010/main" val="552193242"/>
              </p:ext>
            </p:extLst>
          </p:nvPr>
        </p:nvGraphicFramePr>
        <p:xfrm>
          <a:off x="-582698" y="1968327"/>
          <a:ext cx="4612006" cy="292700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594A3A88-C942-2AE3-4065-806A3E40F56C}"/>
              </a:ext>
            </a:extLst>
          </p:cNvPr>
          <p:cNvGraphicFramePr>
            <a:graphicFrameLocks/>
          </p:cNvGraphicFramePr>
          <p:nvPr>
            <p:extLst>
              <p:ext uri="{D42A27DB-BD31-4B8C-83A1-F6EECF244321}">
                <p14:modId xmlns:p14="http://schemas.microsoft.com/office/powerpoint/2010/main" val="566419377"/>
              </p:ext>
            </p:extLst>
          </p:nvPr>
        </p:nvGraphicFramePr>
        <p:xfrm>
          <a:off x="3685532" y="1129099"/>
          <a:ext cx="4865731" cy="402881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66A8612C-EAA9-341C-CF68-B4F445B8A794}"/>
              </a:ext>
            </a:extLst>
          </p:cNvPr>
          <p:cNvGraphicFramePr>
            <a:graphicFrameLocks/>
          </p:cNvGraphicFramePr>
          <p:nvPr>
            <p:extLst>
              <p:ext uri="{D42A27DB-BD31-4B8C-83A1-F6EECF244321}">
                <p14:modId xmlns:p14="http://schemas.microsoft.com/office/powerpoint/2010/main" val="3791752714"/>
              </p:ext>
            </p:extLst>
          </p:nvPr>
        </p:nvGraphicFramePr>
        <p:xfrm>
          <a:off x="8316612" y="1604319"/>
          <a:ext cx="3798159" cy="3663264"/>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108</TotalTime>
  <Words>24</Words>
  <Application>Microsoft Office PowerPoint</Application>
  <PresentationFormat>Widescreen</PresentationFormat>
  <Paragraphs>5</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BCG Grid 16:9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Lancaster, Devon</cp:lastModifiedBy>
  <cp:revision>131</cp:revision>
  <cp:lastPrinted>2016-04-06T18:59:25Z</cp:lastPrinted>
  <dcterms:created xsi:type="dcterms:W3CDTF">2025-04-28T17:07:03Z</dcterms:created>
  <dcterms:modified xsi:type="dcterms:W3CDTF">2025-10-14T11:02:24Z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